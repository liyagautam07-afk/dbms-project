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6" r:id="rId10"/>
    <p:sldId id="263" r:id="rId11"/>
    <p:sldId id="264" r:id="rId12"/>
  </p:sldIdLst>
  <p:sldSz cx="12192000" cy="6858000"/>
  <p:notesSz cx="6858000" cy="9144000"/>
  <p:embeddedFontLst>
    <p:embeddedFont>
      <p:font typeface="Inter"/>
      <p:bold r:id="rId14"/>
    </p:embeddedFont>
    <p:embeddedFont>
      <p:font typeface="Roboto Mono" panose="00000009000000000000" pitchFamily="49" charset="0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E0D48-812F-47FA-9754-38E71B6D08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72595-950C-4FA4-A8B6-69F3A2460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52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72595-950C-4FA4-A8B6-69F3A246097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471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72595-950C-4FA4-A8B6-69F3A246097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08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81562" y="1248816"/>
            <a:ext cx="19050" cy="5715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881562" y="4261394"/>
            <a:ext cx="2435542" cy="1457326"/>
          </a:xfrm>
          <a:prstGeom prst="roundRect">
            <a:avLst>
              <a:gd name="adj" fmla="val 661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Pawan</a:t>
            </a:r>
          </a:p>
          <a:p>
            <a:pPr algn="ctr"/>
            <a:r>
              <a:rPr lang="en-US" sz="1400" dirty="0"/>
              <a:t> [1262241202]</a:t>
            </a:r>
          </a:p>
          <a:p>
            <a:pPr algn="ctr"/>
            <a:r>
              <a:rPr lang="en-US" sz="1400" dirty="0"/>
              <a:t>&amp;</a:t>
            </a:r>
          </a:p>
          <a:p>
            <a:pPr algn="ctr"/>
            <a:r>
              <a:rPr lang="en-US" sz="1400" dirty="0"/>
              <a:t>Liya Gautam [1262241149]</a:t>
            </a:r>
          </a:p>
        </p:txBody>
      </p:sp>
      <p:sp>
        <p:nvSpPr>
          <p:cNvPr id="5" name="Rectangle 4"/>
          <p:cNvSpPr/>
          <p:nvPr/>
        </p:nvSpPr>
        <p:spPr>
          <a:xfrm>
            <a:off x="4811793" y="4261395"/>
            <a:ext cx="88819" cy="14573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762" y="1305966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2277516"/>
            <a:ext cx="12954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B82F6"/>
                </a:solidFill>
                <a:latin typeface="Roboto Mono"/>
              </a:rPr>
              <a:t>COURSE: DATABASE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296" y="2658516"/>
            <a:ext cx="11251406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Inter"/>
              </a:rPr>
              <a:t>ECE Lab Equipment Inventory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9212" y="1358354"/>
            <a:ext cx="35837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Inter"/>
              </a:rPr>
              <a:t>MIT WORLD PEACE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9212" y="1548854"/>
            <a:ext cx="3583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Dept. of Electrical and Electronics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0381" y="4342357"/>
            <a:ext cx="217884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4A3B8"/>
                </a:solidFill>
                <a:latin typeface="Inter"/>
              </a:rPr>
              <a:t>PRESENTED BY</a:t>
            </a:r>
            <a:r>
              <a:rPr lang="en-US" sz="1050" b="0" i="0" u="none" dirty="0">
                <a:solidFill>
                  <a:srgbClr val="94A3B8"/>
                </a:solidFill>
                <a:latin typeface="Inter"/>
              </a:rPr>
              <a:t>:</a:t>
            </a:r>
            <a:endParaRPr sz="105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762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B82F6"/>
                </a:solidFill>
                <a:latin typeface="Roboto Mono"/>
              </a:rPr>
              <a:t>//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14425"/>
            <a:ext cx="115824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Inter"/>
              </a:rPr>
              <a:t>Presentation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0515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Inter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2430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3B82F6"/>
                </a:solidFill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10515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Inter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2430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Inter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2286000"/>
            <a:ext cx="31503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Problem &amp;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2600325"/>
            <a:ext cx="3000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Context and system goals.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3105150"/>
            <a:ext cx="335041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419475"/>
            <a:ext cx="3190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Software requirements &amp;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3905250"/>
            <a:ext cx="323790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System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238625"/>
            <a:ext cx="3083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64748B"/>
                </a:solidFill>
                <a:latin typeface="Inter"/>
              </a:rPr>
              <a:t>ER diagram and table schema.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2286000"/>
            <a:ext cx="3112889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2600325"/>
            <a:ext cx="2964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Integration and core queries.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3105150"/>
            <a:ext cx="328791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3419475"/>
            <a:ext cx="3131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Real-world industry relevance.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3924300"/>
            <a:ext cx="293786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Future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4238625"/>
            <a:ext cx="27979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Extensions and conclusion.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6266D7-1655-4406-CD54-9DBEB15EA47A}"/>
              </a:ext>
            </a:extLst>
          </p:cNvPr>
          <p:cNvSpPr txBox="1"/>
          <p:nvPr/>
        </p:nvSpPr>
        <p:spPr>
          <a:xfrm>
            <a:off x="3950208" y="4928616"/>
            <a:ext cx="0" cy="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12530C-0310-0EC9-B083-433BE35A5916}"/>
              </a:ext>
            </a:extLst>
          </p:cNvPr>
          <p:cNvSpPr txBox="1"/>
          <p:nvPr/>
        </p:nvSpPr>
        <p:spPr>
          <a:xfrm>
            <a:off x="3762375" y="4821363"/>
            <a:ext cx="52768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3B82F6"/>
                </a:solidFill>
                <a:latin typeface="Inter"/>
              </a:rPr>
              <a:t>0</a:t>
            </a:r>
            <a:r>
              <a:rPr lang="en-US" sz="1800" b="1" i="0" u="none" dirty="0">
                <a:solidFill>
                  <a:srgbClr val="3B82F6"/>
                </a:solidFill>
                <a:latin typeface="Inter"/>
              </a:rPr>
              <a:t>7</a:t>
            </a:r>
            <a:endParaRPr sz="1800" b="1" i="0" u="none" dirty="0">
              <a:solidFill>
                <a:srgbClr val="3B82F6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20ECD6-4296-7FB9-AEE8-7B184819BF2B}"/>
              </a:ext>
            </a:extLst>
          </p:cNvPr>
          <p:cNvSpPr txBox="1"/>
          <p:nvPr/>
        </p:nvSpPr>
        <p:spPr>
          <a:xfrm>
            <a:off x="4742911" y="4821363"/>
            <a:ext cx="85119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0F172A"/>
                </a:solidFill>
                <a:latin typeface="Inter"/>
              </a:rPr>
              <a:t>Mapping</a:t>
            </a:r>
            <a:endParaRPr sz="18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018BCC-ECBF-F998-5DD4-1877B8C9F7D2}"/>
              </a:ext>
            </a:extLst>
          </p:cNvPr>
          <p:cNvSpPr txBox="1"/>
          <p:nvPr/>
        </p:nvSpPr>
        <p:spPr>
          <a:xfrm>
            <a:off x="4033647" y="5196863"/>
            <a:ext cx="226972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64748B"/>
                </a:solidFill>
                <a:latin typeface="Inter"/>
              </a:rPr>
              <a:t>Sustainable Development Goals.</a:t>
            </a:r>
            <a:endParaRPr sz="1350" b="0" i="0" u="none" dirty="0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39430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25230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682430"/>
            <a:ext cx="171450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751707"/>
            <a:ext cx="6858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B82F6"/>
                </a:solidFill>
                <a:latin typeface="Roboto Mono"/>
              </a:rPr>
              <a:t>//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04132"/>
            <a:ext cx="586073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Replacing manual lab ledgers.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506092"/>
            <a:ext cx="5238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Physical logbooks lead to data loss and missing equipment.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191892"/>
            <a:ext cx="591740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No centralized way to audit current hardware stock.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4649092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Need for a strict relational system to enforce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9425"/>
            <a:ext cx="3352800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3019425"/>
            <a:ext cx="3352800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0" y="3019425"/>
            <a:ext cx="3352800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019425"/>
            <a:ext cx="3352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19600" y="3019425"/>
            <a:ext cx="33528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0" y="3019425"/>
            <a:ext cx="3352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514725"/>
            <a:ext cx="4572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3514725"/>
            <a:ext cx="5334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300" y="3514725"/>
            <a:ext cx="5334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675132" y="723901"/>
            <a:ext cx="1295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3B82F6"/>
                </a:solidFill>
                <a:latin typeface="Roboto Mono"/>
              </a:rPr>
              <a:t>// SOFTWARE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0" y="1114425"/>
            <a:ext cx="129540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The 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52925"/>
            <a:ext cx="3200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Frontend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05350"/>
            <a:ext cx="3048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HTML5 &amp; CSS3.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0" y="4352925"/>
            <a:ext cx="3200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Backend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705350"/>
            <a:ext cx="3048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Python Flask framework.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4352925"/>
            <a:ext cx="3200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4705350"/>
            <a:ext cx="3048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MySQL relational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0C20154-F323-E03C-997E-E87EFF0EFD35}"/>
              </a:ext>
            </a:extLst>
          </p:cNvPr>
          <p:cNvSpPr txBox="1"/>
          <p:nvPr/>
        </p:nvSpPr>
        <p:spPr>
          <a:xfrm>
            <a:off x="5197536" y="723901"/>
            <a:ext cx="120866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3B82F6"/>
                </a:solidFill>
                <a:latin typeface="Roboto Mono"/>
              </a:rPr>
              <a:t>// </a:t>
            </a:r>
            <a:r>
              <a:rPr lang="en-US" sz="1200" dirty="0">
                <a:solidFill>
                  <a:srgbClr val="3B82F6"/>
                </a:solidFill>
                <a:latin typeface="Roboto Mono"/>
              </a:rPr>
              <a:t>ER DIAGRAM</a:t>
            </a:r>
            <a:endParaRPr sz="1200" b="0" i="0" u="none" dirty="0">
              <a:solidFill>
                <a:srgbClr val="3B82F6"/>
              </a:solidFill>
              <a:latin typeface="Roboto Mon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89A5FE-5092-3279-A18A-DA3A05FE1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996696"/>
            <a:ext cx="10287000" cy="58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6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95400" y="3033712"/>
            <a:ext cx="3810000" cy="2314575"/>
          </a:xfrm>
          <a:prstGeom prst="roundRect">
            <a:avLst>
              <a:gd name="adj" fmla="val 32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86600" y="2719387"/>
            <a:ext cx="3810000" cy="2943225"/>
          </a:xfrm>
          <a:prstGeom prst="roundRect">
            <a:avLst>
              <a:gd name="adj" fmla="val 258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0" y="4314825"/>
            <a:ext cx="762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123" y="4256998"/>
            <a:ext cx="134703" cy="134703"/>
          </a:xfrm>
          <a:prstGeom prst="rect">
            <a:avLst/>
          </a:prstGeom>
          <a:noFill/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4157662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5" y="3843337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25" y="4786312"/>
            <a:ext cx="1905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381000" y="762000"/>
            <a:ext cx="1295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B82F6"/>
                </a:solidFill>
                <a:latin typeface="Roboto Mono"/>
              </a:rPr>
              <a:t>// SYSTEM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1114425"/>
            <a:ext cx="129540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Relational Table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5925" y="3424237"/>
            <a:ext cx="397549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Equipment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5925" y="3738562"/>
            <a:ext cx="3786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PARENT 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2125" y="4048125"/>
            <a:ext cx="10477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B82F6"/>
                </a:solidFill>
                <a:latin typeface="Inter"/>
              </a:rPr>
              <a:t>1 : Many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7125" y="3109912"/>
            <a:ext cx="397549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Borrow_Records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7125" y="3424237"/>
            <a:ext cx="3786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CHILD 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5925" y="4129087"/>
            <a:ext cx="3786187" cy="200025"/>
          </a:xfrm>
          <a:prstGeom prst="rect">
            <a:avLst/>
          </a:prstGeom>
          <a:noFill/>
        </p:spPr>
        <p:txBody>
          <a:bodyPr wrap="none" lIns="14097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Roboto Mono"/>
              </a:rPr>
              <a:t>item_id (PK)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0725" y="4443412"/>
            <a:ext cx="3481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 Mono"/>
              </a:rPr>
              <a:t>item_name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0725" y="4757737"/>
            <a:ext cx="3481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 Mono"/>
              </a:rPr>
              <a:t>total_stock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7125" y="3814762"/>
            <a:ext cx="3786187" cy="200025"/>
          </a:xfrm>
          <a:prstGeom prst="rect">
            <a:avLst/>
          </a:prstGeom>
          <a:noFill/>
        </p:spPr>
        <p:txBody>
          <a:bodyPr wrap="none" lIns="16002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Roboto Mono"/>
              </a:rPr>
              <a:t>record_id (PK)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925" y="4129087"/>
            <a:ext cx="3481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 Mono"/>
              </a:rPr>
              <a:t>student_name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925" y="4443412"/>
            <a:ext cx="3481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 Mono"/>
              </a:rPr>
              <a:t>student_prn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7125" y="4757737"/>
            <a:ext cx="3786187" cy="200025"/>
          </a:xfrm>
          <a:prstGeom prst="rect">
            <a:avLst/>
          </a:prstGeom>
          <a:noFill/>
        </p:spPr>
        <p:txBody>
          <a:bodyPr wrap="none" lIns="14478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Roboto Mono"/>
              </a:rPr>
              <a:t>item_id (FK)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1925" y="5072062"/>
            <a:ext cx="3481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 Mono"/>
              </a:rPr>
              <a:t>borrow_date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52119" y="1727150"/>
            <a:ext cx="6530280" cy="3403699"/>
          </a:xfrm>
          <a:prstGeom prst="roundRect">
            <a:avLst>
              <a:gd name="adj" fmla="val 223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067300"/>
            <a:ext cx="1524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33119" y="2108150"/>
            <a:ext cx="5863530" cy="2641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678DD"/>
                </a:solidFill>
                <a:latin typeface="Inter"/>
              </a:rPr>
              <a:t>SELECT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Borrow_Records.record_id, Borrow_Records.student_prn, Equipment.item_name, Borrow_Records.borrow_date </a:t>
            </a:r>
            <a:r>
              <a:rPr sz="1350" b="0" i="0" u="none">
                <a:solidFill>
                  <a:srgbClr val="C678DD"/>
                </a:solidFill>
                <a:latin typeface="Inter"/>
              </a:rPr>
              <a:t>FROM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Borrow_Records </a:t>
            </a:r>
            <a:r>
              <a:rPr sz="1350" b="0" i="0" u="none">
                <a:solidFill>
                  <a:srgbClr val="C678DD"/>
                </a:solidFill>
                <a:latin typeface="Inter"/>
              </a:rPr>
              <a:t>JOIN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Equipment </a:t>
            </a:r>
            <a:r>
              <a:rPr sz="1350" b="0" i="0" u="none">
                <a:solidFill>
                  <a:srgbClr val="C678DD"/>
                </a:solidFill>
                <a:latin typeface="Inter"/>
              </a:rPr>
              <a:t>ON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Borrow_Records.item_id = Equipment.item_id </a:t>
            </a:r>
            <a:r>
              <a:rPr sz="1350" b="0" i="0" u="none">
                <a:solidFill>
                  <a:srgbClr val="C678DD"/>
                </a:solidFill>
                <a:latin typeface="Inter"/>
              </a:rPr>
              <a:t>ORDER BY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Borrow_Records.borrow_date </a:t>
            </a:r>
            <a:r>
              <a:rPr sz="1350" b="0" i="0" u="none">
                <a:solidFill>
                  <a:srgbClr val="C678DD"/>
                </a:solidFill>
                <a:latin typeface="Inter"/>
              </a:rPr>
              <a:t>DESC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619250"/>
            <a:ext cx="47911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B82F6"/>
                </a:solidFill>
                <a:latin typeface="Roboto Mono"/>
              </a:rPr>
              <a:t>//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71675"/>
            <a:ext cx="4124578" cy="1685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Inter"/>
              </a:rPr>
              <a:t>Admin Dashboard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86200"/>
            <a:ext cx="392816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A relational SQL JOIN links the student log to the specific hardware inventory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048250"/>
            <a:ext cx="4524449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Inter"/>
              </a:rPr>
              <a:t>Prevents data redundancy.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3119" y="3169235"/>
            <a:ext cx="5844480" cy="2622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350" b="0" i="0" u="none" dirty="0">
                <a:solidFill>
                  <a:srgbClr val="C678DD"/>
                </a:solidFill>
                <a:latin typeface="Roboto Mono"/>
              </a:rPr>
              <a:t>SELECT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Borrow_Records.record_id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,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Borrow_Records.student_prn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,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Equipment.item_name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,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Borrow_Records.borrow_date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>
                <a:solidFill>
                  <a:srgbClr val="C678DD"/>
                </a:solidFill>
                <a:latin typeface="Roboto Mono"/>
              </a:rPr>
              <a:t>FROM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Borrow_Records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>
                <a:solidFill>
                  <a:srgbClr val="C678DD"/>
                </a:solidFill>
                <a:latin typeface="Roboto Mono"/>
              </a:rPr>
              <a:t>JOIN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Equipment </a:t>
            </a:r>
            <a:r>
              <a:rPr sz="1350" b="0" i="0" u="none" dirty="0">
                <a:solidFill>
                  <a:srgbClr val="C678DD"/>
                </a:solidFill>
                <a:latin typeface="Roboto Mono"/>
              </a:rPr>
              <a:t>ON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Borrow_Records.item_id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=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Equipment.item_id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>
                <a:solidFill>
                  <a:srgbClr val="C678DD"/>
                </a:solidFill>
                <a:latin typeface="Roboto Mono"/>
              </a:rPr>
              <a:t>ORDER BY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Borrow_Records.borrow_date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>
                <a:solidFill>
                  <a:srgbClr val="C678DD"/>
                </a:solidFill>
                <a:latin typeface="Roboto Mono"/>
              </a:rPr>
              <a:t>DESC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52762"/>
            <a:ext cx="3454449" cy="2276475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3148012"/>
            <a:ext cx="3454449" cy="2085975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3148012"/>
            <a:ext cx="3454449" cy="2085975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443287"/>
            <a:ext cx="2286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53853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624" y="3538537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762000"/>
            <a:ext cx="1295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B82F6"/>
                </a:solidFill>
                <a:latin typeface="Roboto Mono"/>
              </a:rPr>
              <a:t>//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1000" y="1114425"/>
            <a:ext cx="129540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Future Scope &amp; Extensions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976687"/>
            <a:ext cx="350883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Live Stock Deduction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367212"/>
            <a:ext cx="276864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Implement SQL triggers to reduce stock count automatically upon issue.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9374" y="4071937"/>
            <a:ext cx="350883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Return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9374" y="4462462"/>
            <a:ext cx="276864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Update statements to log component returns and replenish inventory.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8624" y="4071937"/>
            <a:ext cx="350883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8624" y="4462462"/>
            <a:ext cx="276864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Secure the admin dashboard using Werkzeug password hashing.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776844"/>
            <a:ext cx="649055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748"/>
                </a:solidFill>
                <a:latin typeface="Aptos Display"/>
              </a:defRPr>
            </a:pPr>
            <a:r>
              <a:rPr dirty="0"/>
              <a:t>SUSTAINABLE DEVELOPMENT GOALS (SDG</a:t>
            </a:r>
            <a:r>
              <a:rPr lang="en-US" dirty="0"/>
              <a:t>s</a:t>
            </a:r>
            <a:r>
              <a:rPr dirty="0"/>
              <a:t>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675" y="1376559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616E"/>
                </a:solidFill>
                <a:latin typeface="Aptos"/>
              </a:defRPr>
            </a:pPr>
            <a:r>
              <a:t>How the ECE Lab Equipment Inventory Tracker can contribute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0675" y="2048256"/>
            <a:ext cx="333756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333756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562" y="2121408"/>
            <a:ext cx="78739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F2330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SDG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119" y="2779776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748"/>
                </a:solidFill>
                <a:latin typeface="Aptos"/>
              </a:defRPr>
            </a:pPr>
            <a:r>
              <a:t>QUALITY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407" y="3712464"/>
            <a:ext cx="2907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7414B"/>
                </a:solidFill>
                <a:latin typeface="Aptos"/>
              </a:defRPr>
            </a:pPr>
            <a:r>
              <a:t>Organized borrowing records can support administration of equipment used in practical laboratory sessions.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407" y="5143500"/>
            <a:ext cx="2907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2616E"/>
                </a:solidFill>
                <a:latin typeface="Aptos"/>
              </a:defRPr>
            </a:pPr>
            <a:r>
              <a:t>Project link: better visibility of issue records for educational lab equipment.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03975" y="2048256"/>
            <a:ext cx="333756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1730" y="1920240"/>
            <a:ext cx="333756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133" y="2137797"/>
            <a:ext cx="90441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F8B1F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SDG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9715" y="2775204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748"/>
                </a:solidFill>
                <a:latin typeface="Aptos"/>
              </a:defRPr>
            </a:pPr>
            <a:r>
              <a:t>RESPONSIBLE CONSUMPTION</a:t>
            </a:r>
            <a:br/>
            <a:r>
              <a:t>AND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8003" y="3712464"/>
            <a:ext cx="2907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7414B"/>
                </a:solidFill>
                <a:latin typeface="Aptos"/>
              </a:defRPr>
            </a:pPr>
            <a:r>
              <a:rPr dirty="0"/>
              <a:t>Centralized equipment and borrowing records can improve traceability and encourage responsible use of shared resources.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134356"/>
            <a:ext cx="2907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2616E"/>
                </a:solidFill>
                <a:latin typeface="Aptos"/>
              </a:defRPr>
            </a:pPr>
            <a:r>
              <a:t>Project link: searchable borrowing history; stock deduction and returns are future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05030" y="2048256"/>
            <a:ext cx="333756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06240" y="1911096"/>
            <a:ext cx="333756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5879" y="2137797"/>
            <a:ext cx="78739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24119"/>
                </a:solidFill>
                <a:latin typeface="Aptos"/>
              </a:defRPr>
            </a:pPr>
            <a:r>
              <a:rPr>
                <a:solidFill>
                  <a:schemeClr val="tx2"/>
                </a:solidFill>
              </a:rPr>
              <a:t>SDG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2779776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748"/>
                </a:solidFill>
                <a:latin typeface="Aptos"/>
              </a:defRPr>
            </a:pPr>
            <a:r>
              <a:t>INDUSTRY, INNOVATION</a:t>
            </a:r>
            <a:br/>
            <a:r>
              <a:t>AND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6" y="3712464"/>
            <a:ext cx="2907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7414B"/>
                </a:solidFill>
                <a:latin typeface="Aptos"/>
              </a:defRPr>
            </a:pPr>
            <a:r>
              <a:rPr dirty="0"/>
              <a:t>The project demonstrates a small-scale digital workflow for institutional inventory management.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143500"/>
            <a:ext cx="2907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2616E"/>
                </a:solidFill>
                <a:latin typeface="Aptos"/>
              </a:defRPr>
            </a:pPr>
            <a:r>
              <a:t>Project link: Flask + MySQL replace part of a paper-based process.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5CF75-E316-50CE-0B2A-6B1B254B8854}"/>
              </a:ext>
            </a:extLst>
          </p:cNvPr>
          <p:cNvSpPr txBox="1"/>
          <p:nvPr/>
        </p:nvSpPr>
        <p:spPr>
          <a:xfrm>
            <a:off x="5056632" y="2377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6AF461-18C1-FEF1-A331-8EB8AC5DCEDF}"/>
              </a:ext>
            </a:extLst>
          </p:cNvPr>
          <p:cNvSpPr txBox="1"/>
          <p:nvPr/>
        </p:nvSpPr>
        <p:spPr>
          <a:xfrm>
            <a:off x="4776493" y="343661"/>
            <a:ext cx="92974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3B82F6"/>
                </a:solidFill>
                <a:latin typeface="Roboto Mono"/>
              </a:rPr>
              <a:t>// </a:t>
            </a:r>
            <a:r>
              <a:rPr lang="en-US" sz="1200" dirty="0">
                <a:solidFill>
                  <a:srgbClr val="3B82F6"/>
                </a:solidFill>
                <a:latin typeface="Roboto Mono"/>
              </a:rPr>
              <a:t>MAPPING</a:t>
            </a:r>
            <a:endParaRPr sz="1200" b="0" i="0" u="none" dirty="0">
              <a:solidFill>
                <a:srgbClr val="3B82F6"/>
              </a:solidFill>
              <a:latin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076700"/>
            <a:ext cx="6096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89474" y="1743075"/>
            <a:ext cx="4413051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Inter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781300"/>
            <a:ext cx="9525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A successful implementation of DBMS principles resolving physical inventory management in university laboratories.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4703" y="4400550"/>
            <a:ext cx="1702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Roboto Mono"/>
              </a:rPr>
              <a:t>//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9328" y="4714875"/>
            <a:ext cx="3893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8FAFC"/>
                </a:solidFill>
                <a:latin typeface="Inter"/>
              </a:rPr>
              <a:t>[1] R. Elmasri, Fundamentals of Database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0359" y="4953000"/>
            <a:ext cx="2631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8FAFC"/>
                </a:solidFill>
                <a:latin typeface="Inter"/>
              </a:rPr>
              <a:t>[2] MySQL 8.0 Reference Manual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2655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https://i.redd.it/k2kz6okpz4gh1.jpeg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www.reddit.com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65DC6A-435D-5B0A-2B54-8CF2C622F866}"/>
              </a:ext>
            </a:extLst>
          </p:cNvPr>
          <p:cNvSpPr txBox="1"/>
          <p:nvPr/>
        </p:nvSpPr>
        <p:spPr>
          <a:xfrm>
            <a:off x="571500" y="2472452"/>
            <a:ext cx="122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Thank You!</a:t>
            </a:r>
            <a:endParaRPr lang="en-IN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575</Words>
  <Application>Microsoft Office PowerPoint</Application>
  <PresentationFormat>Widescreen</PresentationFormat>
  <Paragraphs>101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Roboto Mono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liya gautam</cp:lastModifiedBy>
  <cp:revision>4</cp:revision>
  <dcterms:created xsi:type="dcterms:W3CDTF">2013-01-27T09:14:16Z</dcterms:created>
  <dcterms:modified xsi:type="dcterms:W3CDTF">2026-10-14T07:43:40Z</dcterms:modified>
  <cp:category/>
</cp:coreProperties>
</file>